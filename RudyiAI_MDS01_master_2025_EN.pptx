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8" r:id="rId14"/>
    <p:sldId id="267" r:id="rId15"/>
    <p:sldId id="268" r:id="rId16"/>
    <p:sldId id="269" r:id="rId17"/>
    <p:sldId id="277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Montserrat" panose="00000500000000000000" pitchFamily="2" charset="-52"/>
      <p:regular r:id="rId30"/>
      <p:bold r:id="rId31"/>
      <p:italic r:id="rId32"/>
      <p:boldItalic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  <p:embeddedFont>
      <p:font typeface="Unbounded" panose="020B0604020202020204" charset="-52"/>
      <p:regular r:id="rId38"/>
      <p:bold r:id="rId39"/>
    </p:embeddedFont>
    <p:embeddedFont>
      <p:font typeface="Unbounded ExtraLight" panose="020B0604020202020204" charset="-52"/>
      <p:regular r:id="rId40"/>
      <p:bold r:id="rId41"/>
    </p:embeddedFont>
    <p:embeddedFont>
      <p:font typeface="Unbounded Light" panose="020B0604020202020204" charset="-52"/>
      <p:regular r:id="rId42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g7rTyGOHK7T/4J9kkx7Cee5YD9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9A944-97B4-4D03-8EE5-76CD2BCEA888}">
  <a:tblStyle styleId="{F5A9A944-97B4-4D03-8EE5-76CD2BCEA8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4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ebf650ae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aebf650ae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ebf650ae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aebf650ae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6a8a007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ad6a8a0072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cc20d7d3a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acc20d7d3a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cc20d7d3a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acc20d7d3a_3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d6a8a007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ad6a8a0072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ebf650ae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aebf650ae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d6a8a007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d6a8a0072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cc20d7d3a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acc20d7d3a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cc20d7d3a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acc20d7d3a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7030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ebf650ae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ebf650ae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712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e8baab9d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g3ae8baab9d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e8baab9d8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3ae8baab9d8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6">
  <p:cSld name="CUSTOM_5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6"/>
          <p:cNvPicPr preferRelativeResize="0"/>
          <p:nvPr/>
        </p:nvPicPr>
        <p:blipFill rotWithShape="1">
          <a:blip r:embed="rId2">
            <a:alphaModFix amt="40000"/>
          </a:blip>
          <a:srcRect l="35771" t="39021" r="7990" b="6669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6"/>
          <p:cNvPicPr preferRelativeResize="0"/>
          <p:nvPr/>
        </p:nvPicPr>
        <p:blipFill rotWithShape="1">
          <a:blip r:embed="rId3">
            <a:alphaModFix amt="64000"/>
          </a:blip>
          <a:srcRect l="21660" t="43722" r="-18747"/>
          <a:stretch/>
        </p:blipFill>
        <p:spPr>
          <a:xfrm rot="-10799994">
            <a:off x="309428" y="2006"/>
            <a:ext cx="8818698" cy="513948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1">
  <p:cSld name="CUSTOM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0" descr="preencoded.png"/>
          <p:cNvPicPr preferRelativeResize="0"/>
          <p:nvPr/>
        </p:nvPicPr>
        <p:blipFill rotWithShape="1">
          <a:blip r:embed="rId2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30"/>
          <p:cNvPicPr preferRelativeResize="0"/>
          <p:nvPr/>
        </p:nvPicPr>
        <p:blipFill rotWithShape="1">
          <a:blip r:embed="rId3">
            <a:alphaModFix/>
          </a:blip>
          <a:srcRect l="12859" t="17250" r="15376" b="21729"/>
          <a:stretch/>
        </p:blipFill>
        <p:spPr>
          <a:xfrm>
            <a:off x="3295950" y="272150"/>
            <a:ext cx="5316523" cy="452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0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0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5">
            <a:off x="2141073" y="272158"/>
            <a:ext cx="7045377" cy="513948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8">
  <p:cSld name="CUSTOM_7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27"/>
          <p:cNvPicPr preferRelativeResize="0"/>
          <p:nvPr/>
        </p:nvPicPr>
        <p:blipFill rotWithShape="1">
          <a:blip r:embed="rId2">
            <a:alphaModFix amt="40000"/>
          </a:blip>
          <a:srcRect l="43763" t="45690"/>
          <a:stretch/>
        </p:blipFill>
        <p:spPr>
          <a:xfrm rot="3">
            <a:off x="4" y="-1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7"/>
          <p:cNvPicPr preferRelativeResize="0"/>
          <p:nvPr/>
        </p:nvPicPr>
        <p:blipFill rotWithShape="1">
          <a:blip r:embed="rId3">
            <a:alphaModFix amt="64000"/>
          </a:blip>
          <a:srcRect l="7181" t="43722" r="15256"/>
          <a:stretch/>
        </p:blipFill>
        <p:spPr>
          <a:xfrm rot="-10799995">
            <a:off x="1" y="2005"/>
            <a:ext cx="7045377" cy="513948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7">
  <p:cSld name="CUSTOM_6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28747" y="-1"/>
            <a:ext cx="600073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43362" y="152399"/>
            <a:ext cx="3082964" cy="244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8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8"/>
          <p:cNvPicPr preferRelativeResize="0"/>
          <p:nvPr/>
        </p:nvPicPr>
        <p:blipFill rotWithShape="1">
          <a:blip r:embed="rId4">
            <a:alphaModFix amt="49000"/>
          </a:blip>
          <a:srcRect t="-113" r="29930" b="23794"/>
          <a:stretch/>
        </p:blipFill>
        <p:spPr>
          <a:xfrm rot="-4">
            <a:off x="5363300" y="4003"/>
            <a:ext cx="3780700" cy="513949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5">
  <p:cSld name="CUSTOM_4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9"/>
          <p:cNvPicPr preferRelativeResize="0"/>
          <p:nvPr/>
        </p:nvPicPr>
        <p:blipFill rotWithShape="1">
          <a:blip r:embed="rId2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9"/>
          <p:cNvPicPr preferRelativeResize="0"/>
          <p:nvPr/>
        </p:nvPicPr>
        <p:blipFill rotWithShape="1">
          <a:blip r:embed="rId2">
            <a:alphaModFix amt="47000"/>
          </a:blip>
          <a:srcRect t="-113" r="29930" b="23794"/>
          <a:stretch/>
        </p:blipFill>
        <p:spPr>
          <a:xfrm rot="-4">
            <a:off x="5363300" y="4003"/>
            <a:ext cx="3780700" cy="513949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2">
  <p:cSld name="CUSTOM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1"/>
          <p:cNvPicPr preferRelativeResize="0"/>
          <p:nvPr/>
        </p:nvPicPr>
        <p:blipFill rotWithShape="1">
          <a:blip r:embed="rId2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1"/>
          <p:cNvPicPr preferRelativeResize="0"/>
          <p:nvPr/>
        </p:nvPicPr>
        <p:blipFill rotWithShape="1">
          <a:blip r:embed="rId3">
            <a:alphaModFix amt="64000"/>
          </a:blip>
          <a:srcRect l="7177" t="43722" r="-1991"/>
          <a:stretch/>
        </p:blipFill>
        <p:spPr>
          <a:xfrm rot="-10799996">
            <a:off x="1" y="2008"/>
            <a:ext cx="8612477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1"/>
          <p:cNvPicPr preferRelativeResize="0"/>
          <p:nvPr/>
        </p:nvPicPr>
        <p:blipFill rotWithShape="1">
          <a:blip r:embed="rId2">
            <a:alphaModFix amt="86000"/>
          </a:blip>
          <a:srcRect r="29930" b="42096"/>
          <a:stretch/>
        </p:blipFill>
        <p:spPr>
          <a:xfrm rot="-4">
            <a:off x="5616350" y="1503327"/>
            <a:ext cx="3527649" cy="36381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3">
  <p:cSld name="CUSTOM_2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2"/>
          <p:cNvPicPr preferRelativeResize="0"/>
          <p:nvPr/>
        </p:nvPicPr>
        <p:blipFill rotWithShape="1">
          <a:blip r:embed="rId2">
            <a:alphaModFix amt="64000"/>
          </a:blip>
          <a:srcRect l="7184" t="43722" r="-4270"/>
          <a:stretch/>
        </p:blipFill>
        <p:spPr>
          <a:xfrm rot="-10799994">
            <a:off x="309428" y="2006"/>
            <a:ext cx="8818698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2"/>
          <p:cNvPicPr preferRelativeResize="0"/>
          <p:nvPr/>
        </p:nvPicPr>
        <p:blipFill rotWithShape="1">
          <a:blip r:embed="rId3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2"/>
          <p:cNvPicPr preferRelativeResize="0"/>
          <p:nvPr/>
        </p:nvPicPr>
        <p:blipFill rotWithShape="1">
          <a:blip r:embed="rId4">
            <a:alphaModFix/>
          </a:blip>
          <a:srcRect r="1680"/>
          <a:stretch/>
        </p:blipFill>
        <p:spPr>
          <a:xfrm>
            <a:off x="3042425" y="498925"/>
            <a:ext cx="6101575" cy="464457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4">
  <p:cSld name="CUSTOM_3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43" descr="preencoded.png"/>
          <p:cNvPicPr preferRelativeResize="0"/>
          <p:nvPr/>
        </p:nvPicPr>
        <p:blipFill rotWithShape="1">
          <a:blip r:embed="rId2">
            <a:alphaModFix amt="49000"/>
          </a:blip>
          <a:srcRect/>
          <a:stretch/>
        </p:blipFill>
        <p:spPr>
          <a:xfrm>
            <a:off x="0" y="38213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43"/>
          <p:cNvPicPr preferRelativeResize="0"/>
          <p:nvPr/>
        </p:nvPicPr>
        <p:blipFill rotWithShape="1">
          <a:blip r:embed="rId3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3"/>
          <p:cNvPicPr preferRelativeResize="0"/>
          <p:nvPr/>
        </p:nvPicPr>
        <p:blipFill rotWithShape="1">
          <a:blip r:embed="rId4">
            <a:alphaModFix amt="64000"/>
          </a:blip>
          <a:srcRect l="-663" t="43722"/>
          <a:stretch/>
        </p:blipFill>
        <p:spPr>
          <a:xfrm rot="-10799994">
            <a:off x="-1" y="2006"/>
            <a:ext cx="9144001" cy="513948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4 1">
  <p:cSld name="CUSTOM_3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44"/>
          <p:cNvPicPr preferRelativeResize="0"/>
          <p:nvPr/>
        </p:nvPicPr>
        <p:blipFill rotWithShape="1">
          <a:blip r:embed="rId2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4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4"/>
          <p:cNvPicPr preferRelativeResize="0"/>
          <p:nvPr/>
        </p:nvPicPr>
        <p:blipFill rotWithShape="1">
          <a:blip r:embed="rId4">
            <a:alphaModFix amt="64000"/>
          </a:blip>
          <a:srcRect l="-663" t="43722"/>
          <a:stretch/>
        </p:blipFill>
        <p:spPr>
          <a:xfrm rot="-10799994">
            <a:off x="-1" y="2006"/>
            <a:ext cx="9144001" cy="513948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10">
  <p:cSld name="CUSTOM_9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55925" y="1046375"/>
            <a:ext cx="2075800" cy="409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5"/>
          <p:cNvPicPr preferRelativeResize="0"/>
          <p:nvPr/>
        </p:nvPicPr>
        <p:blipFill rotWithShape="1">
          <a:blip r:embed="rId3">
            <a:alphaModFix amt="64000"/>
          </a:blip>
          <a:srcRect l="7181" t="43722" r="15256"/>
          <a:stretch/>
        </p:blipFill>
        <p:spPr>
          <a:xfrm rot="-10799995">
            <a:off x="1" y="2005"/>
            <a:ext cx="7045377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5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4" y="-1"/>
            <a:ext cx="4267749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11">
  <p:cSld name="CUSTOM_10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6"/>
          <p:cNvPicPr preferRelativeResize="0"/>
          <p:nvPr/>
        </p:nvPicPr>
        <p:blipFill rotWithShape="1">
          <a:blip r:embed="rId2">
            <a:alphaModFix amt="64000"/>
          </a:blip>
          <a:srcRect l="7181" t="43722" r="15256"/>
          <a:stretch/>
        </p:blipFill>
        <p:spPr>
          <a:xfrm rot="-10799995">
            <a:off x="1" y="2005"/>
            <a:ext cx="7045377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6"/>
          <p:cNvPicPr preferRelativeResize="0"/>
          <p:nvPr/>
        </p:nvPicPr>
        <p:blipFill rotWithShape="1">
          <a:blip r:embed="rId3">
            <a:alphaModFix amt="40000"/>
          </a:blip>
          <a:srcRect l="43763" t="45690"/>
          <a:stretch/>
        </p:blipFill>
        <p:spPr>
          <a:xfrm rot="3">
            <a:off x="4" y="-1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6" title="Mask group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40875" y="3148823"/>
            <a:ext cx="1579600" cy="141135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еціальний макет 9">
  <p:cSld name="CUSTOM_8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>
        <p14:gallery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Unbounded"/>
              <a:buNone/>
              <a:defRPr sz="28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med">
        <p14:gallery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2" y="2006"/>
            <a:ext cx="9094849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 rotWithShape="1">
          <a:blip r:embed="rId4">
            <a:alphaModFix amt="58000"/>
          </a:blip>
          <a:srcRect t="-113" r="29930" b="23794"/>
          <a:stretch/>
        </p:blipFill>
        <p:spPr>
          <a:xfrm rot="-4">
            <a:off x="5363300" y="2003"/>
            <a:ext cx="3780700" cy="513949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 txBox="1"/>
          <p:nvPr/>
        </p:nvSpPr>
        <p:spPr>
          <a:xfrm>
            <a:off x="-24575" y="789400"/>
            <a:ext cx="9144000" cy="22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uk" sz="2500" i="0" u="none" strike="noStrike" cap="none">
                <a:solidFill>
                  <a:srgbClr val="FFF2CC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Adaptive Price Forecasting </a:t>
            </a:r>
            <a:endParaRPr sz="2500" i="0" u="none" strike="noStrike" cap="none">
              <a:solidFill>
                <a:srgbClr val="FFF2CC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uk" sz="2500" i="0" u="none" strike="noStrike" cap="none">
                <a:solidFill>
                  <a:srgbClr val="FFF2CC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for Crypto Asset Trading: </a:t>
            </a:r>
            <a:endParaRPr sz="2500" i="0" u="none" strike="noStrike" cap="none">
              <a:solidFill>
                <a:srgbClr val="FFF2CC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uk" sz="2500" i="0" u="none" strike="noStrike" cap="none">
                <a:solidFill>
                  <a:srgbClr val="FFF2CC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Tree-Based, Recurrent and Hybrid Models </a:t>
            </a:r>
            <a:endParaRPr sz="2500" i="0" u="none" strike="noStrike" cap="none">
              <a:solidFill>
                <a:srgbClr val="FFF2CC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uk" sz="2500" i="0" u="none" strike="noStrike" cap="none">
                <a:solidFill>
                  <a:srgbClr val="FFF2CC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with Multimodal Features</a:t>
            </a:r>
            <a:endParaRPr sz="2500" i="0" u="none" strike="noStrike" cap="none">
              <a:solidFill>
                <a:srgbClr val="FFF2CC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9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uk" sz="19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9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9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   </a:t>
            </a:r>
            <a:r>
              <a:rPr lang="uk" sz="160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  </a:t>
            </a:r>
            <a:r>
              <a:rPr lang="uk" sz="1600">
                <a:solidFill>
                  <a:schemeClr val="lt1"/>
                </a:solidFill>
                <a:latin typeface="Unbounded ExtraLight"/>
                <a:ea typeface="Unbounded ExtraLight"/>
                <a:cs typeface="Unbounded ExtraLight"/>
                <a:sym typeface="Unbounded ExtraLight"/>
              </a:rPr>
              <a:t>     </a:t>
            </a:r>
            <a:endParaRPr sz="1600">
              <a:solidFill>
                <a:schemeClr val="lt1"/>
              </a:solidFill>
              <a:latin typeface="Unbounded ExtraLight"/>
              <a:ea typeface="Unbounded ExtraLight"/>
              <a:cs typeface="Unbounded ExtraLight"/>
              <a:sym typeface="Unbounded Extra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uk" sz="1600">
                <a:solidFill>
                  <a:schemeClr val="lt1"/>
                </a:solidFill>
                <a:latin typeface="Unbounded ExtraLight"/>
                <a:ea typeface="Unbounded ExtraLight"/>
                <a:cs typeface="Unbounded ExtraLight"/>
                <a:sym typeface="Unbounded ExtraLight"/>
              </a:rPr>
              <a:t>     </a:t>
            </a:r>
            <a:r>
              <a:rPr lang="uk" sz="1600" i="0" u="none" strike="noStrike" cap="none">
                <a:solidFill>
                  <a:schemeClr val="lt1"/>
                </a:solidFill>
                <a:latin typeface="Unbounded ExtraLight"/>
                <a:ea typeface="Unbounded ExtraLight"/>
                <a:cs typeface="Unbounded ExtraLight"/>
                <a:sym typeface="Unbounded ExtraLight"/>
              </a:rPr>
              <a:t>Authors: Artem Rudyi, Yana Mudruk</a:t>
            </a:r>
            <a:endParaRPr sz="1600" i="0" u="none" strike="noStrike" cap="none">
              <a:solidFill>
                <a:schemeClr val="lt1"/>
              </a:solidFill>
              <a:latin typeface="Unbounded ExtraLight"/>
              <a:ea typeface="Unbounded ExtraLight"/>
              <a:cs typeface="Unbounded ExtraLight"/>
              <a:sym typeface="Unbounded Extra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uk" sz="1600" i="0" u="none" strike="noStrike" cap="none">
                <a:solidFill>
                  <a:schemeClr val="lt1"/>
                </a:solidFill>
                <a:latin typeface="Unbounded ExtraLight"/>
                <a:ea typeface="Unbounded ExtraLight"/>
                <a:cs typeface="Unbounded ExtraLight"/>
                <a:sym typeface="Unbounded ExtraLight"/>
              </a:rPr>
              <a:t>     Supervisor: PhD (Phys.-Math.) T.O. Filimonova</a:t>
            </a:r>
            <a:endParaRPr sz="1600" i="0" u="none" strike="noStrike" cap="none">
              <a:solidFill>
                <a:schemeClr val="lt1"/>
              </a:solidFill>
              <a:latin typeface="Unbounded ExtraLight"/>
              <a:ea typeface="Unbounded ExtraLight"/>
              <a:cs typeface="Unbounded ExtraLight"/>
              <a:sym typeface="Unbounded Extra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uk" sz="1600" i="0" u="none" strike="noStrike" cap="none">
                <a:solidFill>
                  <a:schemeClr val="lt1"/>
                </a:solidFill>
                <a:latin typeface="Unbounded ExtraLight"/>
                <a:ea typeface="Unbounded ExtraLight"/>
                <a:cs typeface="Unbounded ExtraLight"/>
                <a:sym typeface="Unbounded ExtraLight"/>
              </a:rPr>
              <a:t>     Program: Master of Science in Computer Science</a:t>
            </a:r>
            <a:endParaRPr sz="1600" i="0" u="none" strike="noStrike" cap="none">
              <a:solidFill>
                <a:schemeClr val="lt1"/>
              </a:solidFill>
              <a:latin typeface="Unbounded ExtraLight"/>
              <a:ea typeface="Unbounded ExtraLight"/>
              <a:cs typeface="Unbounded ExtraLight"/>
              <a:sym typeface="Unbounded Extra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uk" sz="1600" i="0" u="none" strike="noStrike" cap="none">
                <a:solidFill>
                  <a:schemeClr val="lt1"/>
                </a:solidFill>
                <a:latin typeface="Unbounded ExtraLight"/>
                <a:ea typeface="Unbounded ExtraLight"/>
                <a:cs typeface="Unbounded ExtraLight"/>
                <a:sym typeface="Unbounded ExtraLight"/>
              </a:rPr>
              <a:t>     December 2025</a:t>
            </a:r>
            <a:endParaRPr sz="1600" i="0" u="none" strike="noStrike" cap="none">
              <a:solidFill>
                <a:srgbClr val="FFFFFF"/>
              </a:solidFill>
              <a:latin typeface="Unbounded ExtraLight"/>
              <a:ea typeface="Unbounded ExtraLight"/>
              <a:cs typeface="Unbounded ExtraLight"/>
              <a:sym typeface="Unbounded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2" y="2006"/>
            <a:ext cx="9094849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4">
            <a:alphaModFix amt="58000"/>
          </a:blip>
          <a:srcRect t="-113" r="29930" b="23794"/>
          <a:stretch/>
        </p:blipFill>
        <p:spPr>
          <a:xfrm rot="-4">
            <a:off x="5363300" y="2003"/>
            <a:ext cx="3780700" cy="513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 rotWithShape="1">
          <a:blip r:embed="rId6">
            <a:alphaModFix amt="28000"/>
          </a:blip>
          <a:srcRect/>
          <a:stretch/>
        </p:blipFill>
        <p:spPr>
          <a:xfrm>
            <a:off x="6294500" y="1309700"/>
            <a:ext cx="2800350" cy="3714750"/>
          </a:xfrm>
          <a:prstGeom prst="rect">
            <a:avLst/>
          </a:prstGeom>
          <a:noFill/>
          <a:ln>
            <a:noFill/>
          </a:ln>
          <a:effectLst>
            <a:reflection stA="0" endPos="30000" dist="38100" dir="5400000" fadeDir="5400012" sy="-100000" algn="bl" rotWithShape="0"/>
          </a:effectLst>
        </p:spPr>
      </p:pic>
      <p:sp>
        <p:nvSpPr>
          <p:cNvPr id="130" name="Google Shape;130;p2"/>
          <p:cNvSpPr txBox="1"/>
          <p:nvPr/>
        </p:nvSpPr>
        <p:spPr>
          <a:xfrm>
            <a:off x="182450" y="317125"/>
            <a:ext cx="8912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800" i="0" u="none" strike="noStrike" cap="none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Research Motivation</a:t>
            </a:r>
            <a:endParaRPr sz="1800" i="0" u="none" strike="noStrike" cap="none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182450" y="1402775"/>
            <a:ext cx="89124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Unbounded Light"/>
              <a:buChar char="●"/>
            </a:pPr>
            <a:r>
              <a:rPr lang="uk" sz="180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Rapid growth in the role of cryptocurrencies</a:t>
            </a:r>
            <a:endParaRPr sz="1800" i="0" u="none" strike="noStrike" cap="none" dirty="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Unbounded Light"/>
              <a:buChar char="●"/>
            </a:pPr>
            <a:r>
              <a:rPr lang="uk" sz="1800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High volatility and complex</a:t>
            </a:r>
            <a:r>
              <a:rPr lang="uk" sz="180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market dynamics</a:t>
            </a:r>
            <a:endParaRPr sz="1800" i="0" u="none" strike="noStrike" cap="none" dirty="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Unbounded Light"/>
              <a:buChar char="●"/>
            </a:pPr>
            <a:r>
              <a:rPr lang="uk" sz="180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Need for robust forecasting and trading methods</a:t>
            </a:r>
            <a:endParaRPr sz="1800" i="0" u="none" strike="noStrike" cap="none" dirty="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Unbounded Light"/>
              <a:buChar char="●"/>
            </a:pPr>
            <a:r>
              <a:rPr lang="uk" sz="1800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Models </a:t>
            </a:r>
            <a:r>
              <a:rPr lang="en-US" sz="1800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are </a:t>
            </a:r>
            <a:r>
              <a:rPr lang="uk" sz="1800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evaluated mostly by statistical metrics</a:t>
            </a:r>
            <a:endParaRPr sz="1800" dirty="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Unbounded Light"/>
              <a:buChar char="●"/>
            </a:pPr>
            <a:r>
              <a:rPr lang="uk" sz="1800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Lack of real-world utility metrics for models</a:t>
            </a:r>
            <a:endParaRPr sz="1800" dirty="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aebf650ae3_0_9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aebf650ae3_0_9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aebf650ae3_0_9"/>
          <p:cNvPicPr preferRelativeResize="0"/>
          <p:nvPr/>
        </p:nvPicPr>
        <p:blipFill rotWithShape="1">
          <a:blip r:embed="rId5">
            <a:alphaModFix amt="64000"/>
          </a:blip>
          <a:srcRect l="7182" t="43722" r="15256"/>
          <a:stretch/>
        </p:blipFill>
        <p:spPr>
          <a:xfrm rot="-10799994">
            <a:off x="3" y="2007"/>
            <a:ext cx="9094849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aebf650ae3_0_9"/>
          <p:cNvPicPr preferRelativeResize="0"/>
          <p:nvPr/>
        </p:nvPicPr>
        <p:blipFill rotWithShape="1">
          <a:blip r:embed="rId4">
            <a:alphaModFix amt="58000"/>
          </a:blip>
          <a:srcRect t="-114" r="29932" b="23796"/>
          <a:stretch/>
        </p:blipFill>
        <p:spPr>
          <a:xfrm rot="-4">
            <a:off x="5363300" y="2003"/>
            <a:ext cx="3780700" cy="513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aebf650ae3_0_9"/>
          <p:cNvPicPr preferRelativeResize="0"/>
          <p:nvPr/>
        </p:nvPicPr>
        <p:blipFill rotWithShape="1">
          <a:blip r:embed="rId6">
            <a:alphaModFix amt="28000"/>
          </a:blip>
          <a:srcRect/>
          <a:stretch/>
        </p:blipFill>
        <p:spPr>
          <a:xfrm>
            <a:off x="6294500" y="1309700"/>
            <a:ext cx="2800350" cy="3714750"/>
          </a:xfrm>
          <a:prstGeom prst="rect">
            <a:avLst/>
          </a:prstGeom>
          <a:noFill/>
          <a:ln>
            <a:noFill/>
          </a:ln>
          <a:effectLst>
            <a:reflection stA="0" endPos="30000" dist="38100" dir="5400000" fadeDir="5400012" sy="-100000" algn="bl" rotWithShape="0"/>
          </a:effectLst>
        </p:spPr>
      </p:pic>
      <p:sp>
        <p:nvSpPr>
          <p:cNvPr id="142" name="Google Shape;142;g3aebf650ae3_0_9"/>
          <p:cNvSpPr txBox="1"/>
          <p:nvPr/>
        </p:nvSpPr>
        <p:spPr>
          <a:xfrm>
            <a:off x="182450" y="317125"/>
            <a:ext cx="8912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Problem Statement</a:t>
            </a:r>
            <a:endParaRPr sz="1800" i="0" u="none" strike="noStrike" cap="none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g3aebf650ae3_0_9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3aebf650ae3_0_9"/>
          <p:cNvSpPr txBox="1"/>
          <p:nvPr/>
        </p:nvSpPr>
        <p:spPr>
          <a:xfrm>
            <a:off x="182450" y="1402775"/>
            <a:ext cx="89124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Unbounded Light"/>
              <a:buChar char="●"/>
            </a:pPr>
            <a:r>
              <a:rPr lang="uk" sz="180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Short-term price direction forecasting</a:t>
            </a: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Unbounded Light"/>
              <a:buChar char="●"/>
            </a:pPr>
            <a:r>
              <a:rPr lang="uk" sz="180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Use of multimodal features</a:t>
            </a: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Unbounded Light"/>
              <a:buChar char="●"/>
            </a:pPr>
            <a:r>
              <a:rPr lang="uk" sz="180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Unified protocol for evaluating financial performance in realistic conditions</a:t>
            </a: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Unbounded Light"/>
              <a:buChar char="●"/>
            </a:pPr>
            <a:r>
              <a:rPr lang="uk" sz="180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Comparison of ML and DL models and development of a hybrid model</a:t>
            </a: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aebf650ae3_0_20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aebf650ae3_0_20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aebf650ae3_0_20"/>
          <p:cNvPicPr preferRelativeResize="0"/>
          <p:nvPr/>
        </p:nvPicPr>
        <p:blipFill rotWithShape="1">
          <a:blip r:embed="rId5">
            <a:alphaModFix amt="64000"/>
          </a:blip>
          <a:srcRect l="7182" t="43722" r="15256"/>
          <a:stretch/>
        </p:blipFill>
        <p:spPr>
          <a:xfrm rot="-10799994">
            <a:off x="3" y="2007"/>
            <a:ext cx="9094849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aebf650ae3_0_20"/>
          <p:cNvPicPr preferRelativeResize="0"/>
          <p:nvPr/>
        </p:nvPicPr>
        <p:blipFill rotWithShape="1">
          <a:blip r:embed="rId4">
            <a:alphaModFix amt="58000"/>
          </a:blip>
          <a:srcRect t="-114" r="29932" b="23796"/>
          <a:stretch/>
        </p:blipFill>
        <p:spPr>
          <a:xfrm rot="-4">
            <a:off x="5363300" y="2003"/>
            <a:ext cx="3780700" cy="513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aebf650ae3_0_20"/>
          <p:cNvPicPr preferRelativeResize="0"/>
          <p:nvPr/>
        </p:nvPicPr>
        <p:blipFill rotWithShape="1">
          <a:blip r:embed="rId6">
            <a:alphaModFix amt="28000"/>
          </a:blip>
          <a:srcRect/>
          <a:stretch/>
        </p:blipFill>
        <p:spPr>
          <a:xfrm>
            <a:off x="6294500" y="1309700"/>
            <a:ext cx="2800350" cy="3714750"/>
          </a:xfrm>
          <a:prstGeom prst="rect">
            <a:avLst/>
          </a:prstGeom>
          <a:noFill/>
          <a:ln>
            <a:noFill/>
          </a:ln>
          <a:effectLst>
            <a:reflection stA="0" endPos="30000" dist="38100" dir="5400000" fadeDir="5400012" sy="-100000" algn="bl" rotWithShape="0"/>
          </a:effectLst>
        </p:spPr>
      </p:pic>
      <p:sp>
        <p:nvSpPr>
          <p:cNvPr id="154" name="Google Shape;154;g3aebf650ae3_0_20"/>
          <p:cNvSpPr txBox="1"/>
          <p:nvPr/>
        </p:nvSpPr>
        <p:spPr>
          <a:xfrm>
            <a:off x="182450" y="317125"/>
            <a:ext cx="8912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Goal, Object, Subject</a:t>
            </a:r>
            <a:endParaRPr sz="1800" i="0" u="none" strike="noStrike" cap="none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g3aebf650ae3_0_20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aebf650ae3_0_20"/>
          <p:cNvSpPr txBox="1"/>
          <p:nvPr/>
        </p:nvSpPr>
        <p:spPr>
          <a:xfrm>
            <a:off x="182450" y="1402775"/>
            <a:ext cx="89124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Goal:  creation and validation of an adaptive crypto price forecasting system</a:t>
            </a: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Object:  crypto asset price forecasting.</a:t>
            </a: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Subject:  ML/DL/hybrid models with multimodal features and subsequent trading.</a:t>
            </a: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ad6a8a0072_0_23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ad6a8a0072_0_23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ad6a8a0072_0_23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3" y="2007"/>
            <a:ext cx="9094849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ad6a8a0072_0_23"/>
          <p:cNvPicPr preferRelativeResize="0"/>
          <p:nvPr/>
        </p:nvPicPr>
        <p:blipFill rotWithShape="1">
          <a:blip r:embed="rId6">
            <a:alphaModFix amt="58000"/>
          </a:blip>
          <a:srcRect/>
          <a:stretch/>
        </p:blipFill>
        <p:spPr>
          <a:xfrm>
            <a:off x="6535000" y="1257663"/>
            <a:ext cx="247650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d6a8a0072_0_23"/>
          <p:cNvSpPr txBox="1"/>
          <p:nvPr/>
        </p:nvSpPr>
        <p:spPr>
          <a:xfrm>
            <a:off x="182600" y="189800"/>
            <a:ext cx="86895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Expected Results</a:t>
            </a:r>
            <a:endParaRPr sz="35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uk" sz="4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uk" sz="3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uk" sz="180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</a:t>
            </a: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6" name="Google Shape;166;g3ad6a8a0072_0_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00" y="1394050"/>
            <a:ext cx="786400" cy="30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ad6a8a0072_0_23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g3ad6a8a0072_0_23"/>
          <p:cNvSpPr txBox="1"/>
          <p:nvPr/>
        </p:nvSpPr>
        <p:spPr>
          <a:xfrm>
            <a:off x="880025" y="1536250"/>
            <a:ext cx="6883500" cy="3051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Assembly</a:t>
            </a: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of a multimodal dataset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Training</a:t>
            </a:r>
            <a:r>
              <a:rPr lang="en-US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of</a:t>
            </a: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ML and DL models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Development of a hybrid model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Evaluation of statistical model quality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Financial performance evaluation (backtest)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acc20d7d3a_1_29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acc20d7d3a_1_29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acc20d7d3a_1_29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4158" y="2007"/>
            <a:ext cx="9090688" cy="5137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acc20d7d3a_1_29"/>
          <p:cNvPicPr preferRelativeResize="0"/>
          <p:nvPr/>
        </p:nvPicPr>
        <p:blipFill rotWithShape="1">
          <a:blip r:embed="rId6">
            <a:alphaModFix amt="50000"/>
          </a:blip>
          <a:srcRect/>
          <a:stretch/>
        </p:blipFill>
        <p:spPr>
          <a:xfrm>
            <a:off x="6535000" y="1257663"/>
            <a:ext cx="247650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acc20d7d3a_1_29"/>
          <p:cNvSpPr txBox="1"/>
          <p:nvPr/>
        </p:nvSpPr>
        <p:spPr>
          <a:xfrm>
            <a:off x="182600" y="189800"/>
            <a:ext cx="86895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Multimodal Data</a:t>
            </a:r>
            <a:endParaRPr sz="35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g3acc20d7d3a_1_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438175" y="1298600"/>
            <a:ext cx="2255224" cy="31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cc20d7d3a_1_29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acc20d7d3a_1_29"/>
          <p:cNvSpPr txBox="1"/>
          <p:nvPr/>
        </p:nvSpPr>
        <p:spPr>
          <a:xfrm>
            <a:off x="823275" y="1408975"/>
            <a:ext cx="6229800" cy="30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Market data (Binance)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Technical and structural indicators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On-chain data (CoinMetrics)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Macroeconomic events (Investing)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Behavioral signals (Fear&amp;Greed)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acc20d7d3a_3_21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acc20d7d3a_3_21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acc20d7d3a_3_21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4157" y="2006"/>
            <a:ext cx="9090688" cy="513713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acc20d7d3a_3_21"/>
          <p:cNvSpPr txBox="1"/>
          <p:nvPr/>
        </p:nvSpPr>
        <p:spPr>
          <a:xfrm>
            <a:off x="182600" y="189800"/>
            <a:ext cx="86895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Data Parameters</a:t>
            </a:r>
            <a:endParaRPr sz="35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8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g3acc20d7d3a_3_21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g3acc20d7d3a_3_21"/>
          <p:cNvSpPr txBox="1"/>
          <p:nvPr/>
        </p:nvSpPr>
        <p:spPr>
          <a:xfrm>
            <a:off x="247594" y="1153675"/>
            <a:ext cx="74607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nbounded Light"/>
              <a:buChar char="●"/>
            </a:pP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BTC/USDT 1h:  10.2019 — 11.2025 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nbounded Light"/>
              <a:buChar char="●"/>
            </a:pP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Regime-sensitive train/val/test split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Train/val/test = 80% / 10% / 10%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nbounded Light"/>
              <a:buChar char="●"/>
            </a:pP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Causal synchronization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nbounded Light"/>
              <a:buChar char="●"/>
            </a:pP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Scale invariance via ATR_200; standardization after split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3ad6a8a0072_0_51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ad6a8a0072_0_51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ad6a8a0072_0_51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4157" y="2006"/>
            <a:ext cx="9090688" cy="513713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ad6a8a0072_0_51"/>
          <p:cNvSpPr txBox="1"/>
          <p:nvPr/>
        </p:nvSpPr>
        <p:spPr>
          <a:xfrm>
            <a:off x="182600" y="189800"/>
            <a:ext cx="86895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Sample Distribution</a:t>
            </a:r>
            <a:endParaRPr sz="35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8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9" name="Google Shape;199;g3ad6a8a0072_0_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0" y="869225"/>
            <a:ext cx="9144000" cy="381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ad6a8a0072_0_51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aebf650ae3_0_39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aebf650ae3_0_39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aebf650ae3_0_39"/>
          <p:cNvPicPr preferRelativeResize="0"/>
          <p:nvPr/>
        </p:nvPicPr>
        <p:blipFill rotWithShape="1">
          <a:blip r:embed="rId5">
            <a:alphaModFix amt="64000"/>
          </a:blip>
          <a:srcRect l="7182" t="43722" r="15256"/>
          <a:stretch/>
        </p:blipFill>
        <p:spPr>
          <a:xfrm rot="-10799994">
            <a:off x="4158" y="2007"/>
            <a:ext cx="9090688" cy="5137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aebf650ae3_0_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9900" y="682088"/>
            <a:ext cx="23622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aebf650ae3_0_39"/>
          <p:cNvSpPr txBox="1"/>
          <p:nvPr/>
        </p:nvSpPr>
        <p:spPr>
          <a:xfrm>
            <a:off x="182600" y="189800"/>
            <a:ext cx="86895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Target Variable</a:t>
            </a:r>
            <a:endParaRPr sz="35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8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g3aebf650ae3_0_39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g3aebf650ae3_0_39"/>
          <p:cNvSpPr txBox="1"/>
          <p:nvPr/>
        </p:nvSpPr>
        <p:spPr>
          <a:xfrm>
            <a:off x="381975" y="1399850"/>
            <a:ext cx="6628800" cy="26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Triple Barrier -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upper/lower/time barriers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up / down / hold = 6 ATR / 2 ATR / 2 weeks </a:t>
            </a: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Binarization (TP / not TP)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ad6a8a0072_0_60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ad6a8a0072_0_60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ad6a8a0072_0_60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4157" y="2006"/>
            <a:ext cx="9090688" cy="513713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ad6a8a0072_0_60"/>
          <p:cNvSpPr txBox="1"/>
          <p:nvPr/>
        </p:nvSpPr>
        <p:spPr>
          <a:xfrm>
            <a:off x="182600" y="189800"/>
            <a:ext cx="86895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Class Distribution in Samples</a:t>
            </a:r>
            <a:endParaRPr sz="35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8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2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0" name="Google Shape;220;g3ad6a8a0072_0_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15762" y="974000"/>
            <a:ext cx="6112476" cy="409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ad6a8a0072_0_60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3acc20d7d3a_1_18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acc20d7d3a_1_18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acc20d7d3a_1_18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49153" y="2007"/>
            <a:ext cx="9094849" cy="513948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acc20d7d3a_1_18"/>
          <p:cNvSpPr txBox="1"/>
          <p:nvPr/>
        </p:nvSpPr>
        <p:spPr>
          <a:xfrm>
            <a:off x="182600" y="204248"/>
            <a:ext cx="84180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Models and Metrics</a:t>
            </a:r>
            <a:endParaRPr sz="35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g3acc20d7d3a_1_18"/>
          <p:cNvSpPr txBox="1"/>
          <p:nvPr/>
        </p:nvSpPr>
        <p:spPr>
          <a:xfrm>
            <a:off x="389650" y="1336400"/>
            <a:ext cx="8140500" cy="34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 b="1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ML</a:t>
            </a: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:  CatBoost, LightGBM, XGBoost + ensemble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uk" sz="1800" b="1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DL</a:t>
            </a: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:  LSTM, GRU, BiLSTM, BiGRU 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uk" sz="1800" b="1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Hybrid</a:t>
            </a: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:  DL-encoder → ML-classifier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uk" sz="1800" b="1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Stat. Metrics</a:t>
            </a: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:  TP-Precision, TP-Recall, Macro-F1, BSS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uk" sz="1800" b="1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Fin. metrics</a:t>
            </a:r>
            <a:r>
              <a:rPr lang="uk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:  Total return, MDD, Sharpe, Calmar, Martin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3acc20d7d3a_1_18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3acc20d7d3a_1_18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acc20d7d3a_1_18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acc20d7d3a_1_18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49153" y="2007"/>
            <a:ext cx="9094849" cy="513948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acc20d7d3a_1_18"/>
          <p:cNvSpPr txBox="1"/>
          <p:nvPr/>
        </p:nvSpPr>
        <p:spPr>
          <a:xfrm>
            <a:off x="182600" y="204248"/>
            <a:ext cx="84180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-UA" sz="2800" dirty="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Trading System</a:t>
            </a:r>
            <a:endParaRPr sz="3500" b="1" i="0" u="none" strike="noStrike" cap="none" dirty="0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3acc20d7d3a_1_18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90;g3acc20d7d3a_3_21">
                <a:extLst>
                  <a:ext uri="{FF2B5EF4-FFF2-40B4-BE49-F238E27FC236}">
                    <a16:creationId xmlns:a16="http://schemas.microsoft.com/office/drawing/2014/main" id="{5F1A2433-FEAC-4AE8-8DDC-AD048DCC1C4A}"/>
                  </a:ext>
                </a:extLst>
              </p:cNvPr>
              <p:cNvSpPr txBox="1"/>
              <p:nvPr/>
            </p:nvSpPr>
            <p:spPr>
              <a:xfrm>
                <a:off x="416467" y="1422607"/>
                <a:ext cx="7460700" cy="2700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Unbounded Light"/>
                  <a:buChar char="●"/>
                </a:pPr>
                <a:r>
                  <a:rPr lang="en-US" sz="1800" dirty="0">
                    <a:solidFill>
                      <a:schemeClr val="lt1"/>
                    </a:solidFill>
                    <a:latin typeface="Unbounded Light"/>
                    <a:ea typeface="Unbounded Light"/>
                    <a:cs typeface="Unbounded Light"/>
                    <a:sym typeface="Unbounded Light"/>
                  </a:rPr>
                  <a:t>Long-only</a:t>
                </a: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dirty="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endParaRPr>
              </a:p>
              <a:p>
                <a:pPr marL="45720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Unbounded Light"/>
                  <a:buChar char="●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  <m:t>𝑝</m:t>
                        </m:r>
                      </m:e>
                    </m:acc>
                    <m:r>
                      <a:rPr lang="en-US" sz="1800" b="0" i="1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  <a:sym typeface="Unbounded Light"/>
                      </a:rPr>
                      <m:t>≥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  <m:t>𝐵𝐸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  <a:sym typeface="Unbounded Light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  <m:t>𝑝𝑟𝑒𝑚𝑖𝑢𝑚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lt1"/>
                    </a:solidFill>
                    <a:latin typeface="Unbounded Light"/>
                    <a:ea typeface="Unbounded Light"/>
                    <a:cs typeface="Unbounded Light"/>
                    <a:sym typeface="Unbounded Light"/>
                  </a:rPr>
                  <a:t>  → </a:t>
                </a:r>
                <a:r>
                  <a:rPr lang="uk-UA" sz="1800" dirty="0">
                    <a:solidFill>
                      <a:schemeClr val="lt1"/>
                    </a:solidFill>
                    <a:latin typeface="Unbounded Light"/>
                    <a:ea typeface="Unbounded Light"/>
                    <a:cs typeface="Unbounded Light"/>
                    <a:sym typeface="Unbounded Light"/>
                  </a:rPr>
                  <a:t> position entry</a:t>
                </a:r>
                <a:endParaRPr lang="en-US" sz="1800" dirty="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dirty="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endParaRPr>
              </a:p>
              <a:p>
                <a:pPr marL="45720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Unbounded Light"/>
                  <a:buChar char="●"/>
                </a:pPr>
                <a:r>
                  <a:rPr lang="uk-UA" sz="1800" dirty="0">
                    <a:solidFill>
                      <a:schemeClr val="lt1"/>
                    </a:solidFill>
                    <a:latin typeface="Unbounded Light"/>
                    <a:ea typeface="Unbounded Light"/>
                    <a:cs typeface="Unbounded Light"/>
                    <a:sym typeface="Unbounded Light"/>
                  </a:rPr>
                  <a:t>Optimization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sym typeface="Unbounded Light"/>
                          </a:rPr>
                          <m:t>𝑝𝑟𝑒𝑚𝑖𝑢𝑚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lt1"/>
                    </a:solidFill>
                    <a:latin typeface="Unbounded Light"/>
                    <a:ea typeface="Unbounded Light"/>
                    <a:cs typeface="Unbounded Light"/>
                    <a:sym typeface="Unbounded Light"/>
                  </a:rPr>
                  <a:t> </a:t>
                </a:r>
                <a:r>
                  <a:rPr lang="uk-UA" sz="1800" dirty="0">
                    <a:solidFill>
                      <a:schemeClr val="lt1"/>
                    </a:solidFill>
                    <a:latin typeface="Unbounded Light"/>
                    <a:ea typeface="Unbounded Light"/>
                    <a:cs typeface="Unbounded Light"/>
                    <a:sym typeface="Unbounded Light"/>
                  </a:rPr>
                  <a:t>on </a:t>
                </a:r>
                <a:r>
                  <a:rPr lang="en-US" sz="1800" dirty="0" err="1">
                    <a:solidFill>
                      <a:schemeClr val="lt1"/>
                    </a:solidFill>
                    <a:latin typeface="Unbounded Light"/>
                    <a:ea typeface="Unbounded Light"/>
                    <a:cs typeface="Unbounded Light"/>
                    <a:sym typeface="Unbounded Light"/>
                  </a:rPr>
                  <a:t>val</a:t>
                </a:r>
                <a:r>
                  <a:rPr lang="uk-UA" sz="1800" dirty="0">
                    <a:solidFill>
                      <a:schemeClr val="lt1"/>
                    </a:solidFill>
                    <a:latin typeface="Unbounded Light"/>
                    <a:ea typeface="Unbounded Light"/>
                    <a:cs typeface="Unbounded Light"/>
                    <a:sym typeface="Unbounded Light"/>
                  </a:rPr>
                  <a:t> set</a:t>
                </a: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uk-UA" sz="1800" dirty="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endParaRPr>
              </a:p>
              <a:p>
                <a:pPr marL="45720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Unbounded Light"/>
                  <a:buChar char="●"/>
                </a:pPr>
                <a:r>
                  <a:rPr lang="uk-UA" sz="1800" dirty="0">
                    <a:solidFill>
                      <a:schemeClr val="lt1"/>
                    </a:solidFill>
                    <a:latin typeface="Unbounded Light"/>
                    <a:ea typeface="Unbounded Light"/>
                    <a:cs typeface="Unbounded Light"/>
                    <a:sym typeface="Unbounded Light"/>
                  </a:rPr>
                  <a:t>Accounting for trading fees / slippage</a:t>
                </a: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8" name="Google Shape;190;g3acc20d7d3a_3_21">
                <a:extLst>
                  <a:ext uri="{FF2B5EF4-FFF2-40B4-BE49-F238E27FC236}">
                    <a16:creationId xmlns:a16="http://schemas.microsoft.com/office/drawing/2014/main" id="{5F1A2433-FEAC-4AE8-8DDC-AD048DCC1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67" y="1422607"/>
                <a:ext cx="7460700" cy="27003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563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aebf650ae3_0_50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aebf650ae3_0_50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aebf650ae3_0_50"/>
          <p:cNvSpPr txBox="1"/>
          <p:nvPr/>
        </p:nvSpPr>
        <p:spPr>
          <a:xfrm>
            <a:off x="182600" y="204248"/>
            <a:ext cx="84180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Working Pipeline</a:t>
            </a:r>
            <a:endParaRPr sz="35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g3aebf650ae3_0_50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0" name="Google Shape;240;g3aebf650ae3_0_50"/>
          <p:cNvGrpSpPr/>
          <p:nvPr/>
        </p:nvGrpSpPr>
        <p:grpSpPr>
          <a:xfrm>
            <a:off x="0" y="1189989"/>
            <a:ext cx="2726700" cy="3482836"/>
            <a:chOff x="0" y="1189989"/>
            <a:chExt cx="2726700" cy="3482836"/>
          </a:xfrm>
        </p:grpSpPr>
        <p:sp>
          <p:nvSpPr>
            <p:cNvPr id="241" name="Google Shape;241;g3aebf650ae3_0_50"/>
            <p:cNvSpPr/>
            <p:nvPr/>
          </p:nvSpPr>
          <p:spPr>
            <a:xfrm>
              <a:off x="0" y="1189989"/>
              <a:ext cx="2726700" cy="669000"/>
            </a:xfrm>
            <a:prstGeom prst="homePlate">
              <a:avLst>
                <a:gd name="adj" fmla="val 50000"/>
              </a:avLst>
            </a:prstGeom>
            <a:solidFill>
              <a:srgbClr val="5615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solidFill>
                    <a:srgbClr val="FFFFFF"/>
                  </a:solidFill>
                  <a:latin typeface="Unbounded"/>
                  <a:ea typeface="Unbounded"/>
                  <a:cs typeface="Unbounded"/>
                  <a:sym typeface="Unbounded"/>
                </a:rPr>
                <a:t>Data Preparation</a:t>
              </a:r>
              <a:endParaRPr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endParaRPr>
            </a:p>
          </p:txBody>
        </p:sp>
        <p:sp>
          <p:nvSpPr>
            <p:cNvPr id="242" name="Google Shape;242;g3aebf650ae3_0_50"/>
            <p:cNvSpPr txBox="1"/>
            <p:nvPr/>
          </p:nvSpPr>
          <p:spPr>
            <a:xfrm>
              <a:off x="229175" y="2057125"/>
              <a:ext cx="21813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Data acquisition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Feature generation and normalization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Target variable generation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Train/val/test split and standardization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</p:txBody>
        </p:sp>
      </p:grpSp>
      <p:grpSp>
        <p:nvGrpSpPr>
          <p:cNvPr id="243" name="Google Shape;243;g3aebf650ae3_0_50"/>
          <p:cNvGrpSpPr/>
          <p:nvPr/>
        </p:nvGrpSpPr>
        <p:grpSpPr>
          <a:xfrm>
            <a:off x="2263425" y="1189775"/>
            <a:ext cx="2541300" cy="3486025"/>
            <a:chOff x="2263425" y="1189775"/>
            <a:chExt cx="2541300" cy="3486025"/>
          </a:xfrm>
        </p:grpSpPr>
        <p:sp>
          <p:nvSpPr>
            <p:cNvPr id="244" name="Google Shape;244;g3aebf650ae3_0_50"/>
            <p:cNvSpPr/>
            <p:nvPr/>
          </p:nvSpPr>
          <p:spPr>
            <a:xfrm>
              <a:off x="2263425" y="1189775"/>
              <a:ext cx="2541300" cy="669000"/>
            </a:xfrm>
            <a:prstGeom prst="chevron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solidFill>
                    <a:srgbClr val="FFFFFF"/>
                  </a:solidFill>
                  <a:latin typeface="Unbounded"/>
                  <a:ea typeface="Unbounded"/>
                  <a:cs typeface="Unbounded"/>
                  <a:sym typeface="Unbounded"/>
                </a:rPr>
                <a:t>Training</a:t>
              </a:r>
              <a:endParaRPr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endParaRPr>
            </a:p>
          </p:txBody>
        </p:sp>
        <p:sp>
          <p:nvSpPr>
            <p:cNvPr id="245" name="Google Shape;245;g3aebf650ae3_0_50"/>
            <p:cNvSpPr txBox="1"/>
            <p:nvPr/>
          </p:nvSpPr>
          <p:spPr>
            <a:xfrm>
              <a:off x="2452775" y="2060100"/>
              <a:ext cx="2020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Early stopping on val set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DL: Adam, Brier ES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</p:txBody>
        </p:sp>
      </p:grpSp>
      <p:grpSp>
        <p:nvGrpSpPr>
          <p:cNvPr id="246" name="Google Shape;246;g3aebf650ae3_0_50"/>
          <p:cNvGrpSpPr/>
          <p:nvPr/>
        </p:nvGrpSpPr>
        <p:grpSpPr>
          <a:xfrm>
            <a:off x="4329974" y="1189775"/>
            <a:ext cx="2541300" cy="3483050"/>
            <a:chOff x="4329974" y="1189775"/>
            <a:chExt cx="2541300" cy="3483050"/>
          </a:xfrm>
        </p:grpSpPr>
        <p:sp>
          <p:nvSpPr>
            <p:cNvPr id="247" name="Google Shape;247;g3aebf650ae3_0_50"/>
            <p:cNvSpPr/>
            <p:nvPr/>
          </p:nvSpPr>
          <p:spPr>
            <a:xfrm>
              <a:off x="4329974" y="1189775"/>
              <a:ext cx="2541300" cy="669000"/>
            </a:xfrm>
            <a:prstGeom prst="chevron">
              <a:avLst>
                <a:gd name="adj" fmla="val 50000"/>
              </a:avLst>
            </a:prstGeom>
            <a:solidFill>
              <a:srgbClr val="771E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solidFill>
                    <a:srgbClr val="FFFFFF"/>
                  </a:solidFill>
                  <a:latin typeface="Unbounded"/>
                  <a:ea typeface="Unbounded"/>
                  <a:cs typeface="Unbounded"/>
                  <a:sym typeface="Unbounded"/>
                </a:rPr>
                <a:t>Optimization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8" name="Google Shape;248;g3aebf650ae3_0_50"/>
            <p:cNvSpPr txBox="1"/>
            <p:nvPr/>
          </p:nvSpPr>
          <p:spPr>
            <a:xfrm>
              <a:off x="4613550" y="2057125"/>
              <a:ext cx="20949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Hyperparameter optimization on val set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Trading parameter optimization on val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</p:txBody>
        </p:sp>
      </p:grpSp>
      <p:grpSp>
        <p:nvGrpSpPr>
          <p:cNvPr id="249" name="Google Shape;249;g3aebf650ae3_0_50"/>
          <p:cNvGrpSpPr/>
          <p:nvPr/>
        </p:nvGrpSpPr>
        <p:grpSpPr>
          <a:xfrm>
            <a:off x="6396739" y="1189775"/>
            <a:ext cx="2541300" cy="3483050"/>
            <a:chOff x="6396739" y="1189775"/>
            <a:chExt cx="2541300" cy="3483050"/>
          </a:xfrm>
        </p:grpSpPr>
        <p:sp>
          <p:nvSpPr>
            <p:cNvPr id="250" name="Google Shape;250;g3aebf650ae3_0_50"/>
            <p:cNvSpPr/>
            <p:nvPr/>
          </p:nvSpPr>
          <p:spPr>
            <a:xfrm>
              <a:off x="6396739" y="1189775"/>
              <a:ext cx="2541300" cy="669000"/>
            </a:xfrm>
            <a:prstGeom prst="chevron">
              <a:avLst>
                <a:gd name="adj" fmla="val 50000"/>
              </a:avLst>
            </a:prstGeom>
            <a:solidFill>
              <a:srgbClr val="802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solidFill>
                    <a:srgbClr val="FFFFFF"/>
                  </a:solidFill>
                  <a:latin typeface="Unbounded"/>
                  <a:ea typeface="Unbounded"/>
                  <a:cs typeface="Unbounded"/>
                  <a:sym typeface="Unbounded"/>
                </a:rPr>
                <a:t>Test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1" name="Google Shape;251;g3aebf650ae3_0_50"/>
            <p:cNvSpPr txBox="1"/>
            <p:nvPr/>
          </p:nvSpPr>
          <p:spPr>
            <a:xfrm>
              <a:off x="6714905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Test set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Classification metrics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Financial metrics (backtest)</a:t>
              </a:r>
              <a:endParaRPr sz="120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24578" y="40244"/>
            <a:ext cx="9094849" cy="513948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"/>
          <p:cNvSpPr txBox="1"/>
          <p:nvPr/>
        </p:nvSpPr>
        <p:spPr>
          <a:xfrm>
            <a:off x="182600" y="189800"/>
            <a:ext cx="89613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80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Classification Results</a:t>
            </a:r>
            <a:endParaRPr sz="3000" b="1" i="0" u="none" strike="noStrike" cap="none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0" name="Google Shape;260;p4"/>
          <p:cNvPicPr preferRelativeResize="0"/>
          <p:nvPr/>
        </p:nvPicPr>
        <p:blipFill rotWithShape="1">
          <a:blip r:embed="rId6">
            <a:alphaModFix/>
          </a:blip>
          <a:srcRect t="10944"/>
          <a:stretch/>
        </p:blipFill>
        <p:spPr>
          <a:xfrm>
            <a:off x="0" y="797825"/>
            <a:ext cx="9144001" cy="39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6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6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2" y="2006"/>
            <a:ext cx="9094849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4">
            <a:alphaModFix amt="58000"/>
          </a:blip>
          <a:srcRect t="-113" r="29930" b="23794"/>
          <a:stretch/>
        </p:blipFill>
        <p:spPr>
          <a:xfrm rot="-4">
            <a:off x="5363300" y="2003"/>
            <a:ext cx="3780700" cy="513949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"/>
          <p:cNvSpPr txBox="1"/>
          <p:nvPr/>
        </p:nvSpPr>
        <p:spPr>
          <a:xfrm>
            <a:off x="182600" y="189800"/>
            <a:ext cx="89613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800" dirty="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Financial Results</a:t>
            </a:r>
            <a:endParaRPr sz="3000" b="1" i="0" u="none" strike="noStrike" cap="none" dirty="0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2" name="Google Shape;272;p6"/>
          <p:cNvGraphicFramePr/>
          <p:nvPr>
            <p:extLst>
              <p:ext uri="{D42A27DB-BD31-4B8C-83A1-F6EECF244321}">
                <p14:modId xmlns:p14="http://schemas.microsoft.com/office/powerpoint/2010/main" val="2298706093"/>
              </p:ext>
            </p:extLst>
          </p:nvPr>
        </p:nvGraphicFramePr>
        <p:xfrm>
          <a:off x="470088" y="1079250"/>
          <a:ext cx="8049125" cy="3647225"/>
        </p:xfrm>
        <a:graphic>
          <a:graphicData uri="http://schemas.openxmlformats.org/drawingml/2006/table">
            <a:tbl>
              <a:tblPr>
                <a:noFill/>
                <a:tableStyleId>{F5A9A944-97B4-4D03-8EE5-76CD2BCEA888}</a:tableStyleId>
              </a:tblPr>
              <a:tblGrid>
                <a:gridCol w="123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3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9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Model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Sharpe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Calmar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Martin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Total return (%)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MDD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Win-rate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Trade Count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CatBoost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1.58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3.63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4.80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25.28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−0.141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0.313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147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LightGBM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−0.46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−0.76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−5.41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−5.92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−0.139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0.253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83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XGBoost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1.85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4.28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6.57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28.69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−0.137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0.325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126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ML Ensemble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0.38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0.56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−3.95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3.32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−0.110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0.281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96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LSTM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2.47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7.44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20.27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33.90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−0.105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0.359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92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GRU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3.08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10.11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20.90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45.19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−0.107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0.382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89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BiLSTM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2.05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6.58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9.95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29.95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−0.103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0.333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117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BiGRU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3.50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14.59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31.35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52.66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−0.089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0.405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84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Hybrid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1.55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3.49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4.36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22.50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−0.141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0.313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134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Buy-n-hold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27.71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-0.171</a:t>
                      </a:r>
                      <a:endParaRPr sz="90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-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-</a:t>
                      </a:r>
                      <a:endParaRPr sz="900" dirty="0">
                        <a:solidFill>
                          <a:schemeClr val="lt1"/>
                        </a:solidFill>
                        <a:latin typeface="Unbounded Light"/>
                        <a:ea typeface="Unbounded Light"/>
                        <a:cs typeface="Unbounded Light"/>
                        <a:sym typeface="Unbounded Ligh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6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6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2" y="2006"/>
            <a:ext cx="9094849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4">
            <a:alphaModFix amt="58000"/>
          </a:blip>
          <a:srcRect t="-113" r="29930" b="23794"/>
          <a:stretch/>
        </p:blipFill>
        <p:spPr>
          <a:xfrm rot="-4">
            <a:off x="5363300" y="2003"/>
            <a:ext cx="3780700" cy="513949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"/>
          <p:cNvSpPr txBox="1"/>
          <p:nvPr/>
        </p:nvSpPr>
        <p:spPr>
          <a:xfrm>
            <a:off x="182702" y="136012"/>
            <a:ext cx="89613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-UA" sz="2800" dirty="0">
                <a:solidFill>
                  <a:srgbClr val="FFF2CC"/>
                </a:solidFill>
                <a:latin typeface="Unbounded"/>
                <a:ea typeface="Unbounded"/>
                <a:cs typeface="Unbounded"/>
                <a:sym typeface="Unbounded"/>
              </a:rPr>
              <a:t>Feature Importance</a:t>
            </a:r>
            <a:endParaRPr sz="3000" b="1" i="0" u="none" strike="noStrike" cap="none" dirty="0">
              <a:solidFill>
                <a:srgbClr val="FFF2CC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4D0F5B-7CC0-4992-A4F5-BEA8CCB24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602604"/>
              </p:ext>
            </p:extLst>
          </p:nvPr>
        </p:nvGraphicFramePr>
        <p:xfrm>
          <a:off x="586814" y="1177424"/>
          <a:ext cx="6304802" cy="3229864"/>
        </p:xfrm>
        <a:graphic>
          <a:graphicData uri="http://schemas.openxmlformats.org/drawingml/2006/table">
            <a:tbl>
              <a:tblPr firstRow="1" firstCol="1" bandRow="1">
                <a:tableStyleId>{F5A9A944-97B4-4D03-8EE5-76CD2BCEA888}</a:tableStyleId>
              </a:tblPr>
              <a:tblGrid>
                <a:gridCol w="2258853">
                  <a:extLst>
                    <a:ext uri="{9D8B030D-6E8A-4147-A177-3AD203B41FA5}">
                      <a16:colId xmlns:a16="http://schemas.microsoft.com/office/drawing/2014/main" val="3570741494"/>
                    </a:ext>
                  </a:extLst>
                </a:gridCol>
                <a:gridCol w="969065">
                  <a:extLst>
                    <a:ext uri="{9D8B030D-6E8A-4147-A177-3AD203B41FA5}">
                      <a16:colId xmlns:a16="http://schemas.microsoft.com/office/drawing/2014/main" val="3256544923"/>
                    </a:ext>
                  </a:extLst>
                </a:gridCol>
                <a:gridCol w="1024337">
                  <a:extLst>
                    <a:ext uri="{9D8B030D-6E8A-4147-A177-3AD203B41FA5}">
                      <a16:colId xmlns:a16="http://schemas.microsoft.com/office/drawing/2014/main" val="3355713122"/>
                    </a:ext>
                  </a:extLst>
                </a:gridCol>
                <a:gridCol w="1028210">
                  <a:extLst>
                    <a:ext uri="{9D8B030D-6E8A-4147-A177-3AD203B41FA5}">
                      <a16:colId xmlns:a16="http://schemas.microsoft.com/office/drawing/2014/main" val="1330234770"/>
                    </a:ext>
                  </a:extLst>
                </a:gridCol>
                <a:gridCol w="1024337">
                  <a:extLst>
                    <a:ext uri="{9D8B030D-6E8A-4147-A177-3AD203B41FA5}">
                      <a16:colId xmlns:a16="http://schemas.microsoft.com/office/drawing/2014/main" val="2532510981"/>
                    </a:ext>
                  </a:extLst>
                </a:gridCol>
              </a:tblGrid>
              <a:tr h="4037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Excluded Feature Block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uk-UA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Feature Count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ΔMacro-F1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ΔBSS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 err="1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ΔTotal</a:t>
                      </a: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 Return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322063"/>
                  </a:ext>
                </a:extLst>
              </a:tr>
              <a:tr h="4037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ATR Levels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96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−0.079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−0.022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−9.3</a:t>
                      </a:r>
                      <a:r>
                        <a:rPr lang="uk-UA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7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8156917"/>
                  </a:ext>
                </a:extLst>
              </a:tr>
              <a:tr h="4037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Core Trend Mom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84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−0.063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0.011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−15.</a:t>
                      </a:r>
                      <a:r>
                        <a:rPr lang="uk-UA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80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45873"/>
                  </a:ext>
                </a:extLst>
              </a:tr>
              <a:tr h="4037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Fractal regime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79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−0.089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−0.025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−13.80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1444965"/>
                  </a:ext>
                </a:extLst>
              </a:tr>
              <a:tr h="4037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Macro </a:t>
                      </a:r>
                      <a:r>
                        <a:rPr lang="en-US" sz="1100" b="0" i="0" u="none" strike="noStrike" cap="none" dirty="0" err="1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onchain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97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0.004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0.022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−14.65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3590307"/>
                  </a:ext>
                </a:extLst>
              </a:tr>
              <a:tr h="4037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Patterns ICT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79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−0.014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0.037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−12.9</a:t>
                      </a:r>
                      <a:r>
                        <a:rPr lang="uk-UA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5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9767320"/>
                  </a:ext>
                </a:extLst>
              </a:tr>
              <a:tr h="4037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Time PDA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93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−0.079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−0.039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−6.67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9436977"/>
                  </a:ext>
                </a:extLst>
              </a:tr>
              <a:tr h="4037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Volume</a:t>
                      </a:r>
                      <a:r>
                        <a:rPr lang="uk-UA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/</a:t>
                      </a: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VWAP</a:t>
                      </a:r>
                      <a:r>
                        <a:rPr lang="uk-UA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/</a:t>
                      </a: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session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96</a:t>
                      </a:r>
                      <a:endParaRPr lang="en-US" sz="1100" b="0" i="0" u="none" strike="noStrike" cap="none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−0.016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0.060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lt1"/>
                          </a:solidFill>
                          <a:latin typeface="Unbounded Light"/>
                          <a:sym typeface="Arial"/>
                        </a:rPr>
                        <a:t>−2.271</a:t>
                      </a:r>
                      <a:endParaRPr lang="en-US" sz="1100" b="0" i="0" u="none" strike="noStrike" cap="none" dirty="0">
                        <a:solidFill>
                          <a:schemeClr val="lt1"/>
                        </a:solidFill>
                        <a:latin typeface="Unbounded Light"/>
                        <a:ea typeface="Aptos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1551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449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7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7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7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2" y="71258"/>
            <a:ext cx="9094849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7"/>
          <p:cNvPicPr preferRelativeResize="0"/>
          <p:nvPr/>
        </p:nvPicPr>
        <p:blipFill rotWithShape="1">
          <a:blip r:embed="rId4">
            <a:alphaModFix amt="58000"/>
          </a:blip>
          <a:srcRect t="-113" r="29930" b="23794"/>
          <a:stretch/>
        </p:blipFill>
        <p:spPr>
          <a:xfrm rot="-4">
            <a:off x="5363300" y="2003"/>
            <a:ext cx="3780700" cy="513949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 txBox="1"/>
          <p:nvPr/>
        </p:nvSpPr>
        <p:spPr>
          <a:xfrm>
            <a:off x="182600" y="189800"/>
            <a:ext cx="8961300" cy="11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2400"/>
            </a:pPr>
            <a:r>
              <a:rPr lang="uk-UA" sz="2800" dirty="0">
                <a:solidFill>
                  <a:srgbClr val="FFF2CC"/>
                </a:solidFill>
                <a:latin typeface="Unbounded"/>
                <a:sym typeface="Unbounded"/>
              </a:rPr>
              <a:t>Cross-Asset Transfer </a:t>
            </a:r>
            <a:r>
              <a:rPr lang="uk" sz="2800" dirty="0">
                <a:solidFill>
                  <a:srgbClr val="FFF2CC"/>
                </a:solidFill>
                <a:latin typeface="Unbounded"/>
                <a:sym typeface="Unbounded"/>
              </a:rPr>
              <a:t>to ETH/USDT</a:t>
            </a:r>
            <a:endParaRPr sz="2800" dirty="0">
              <a:solidFill>
                <a:srgbClr val="FFF2CC"/>
              </a:solidFill>
              <a:latin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846ACF-289E-4073-9461-43A6A5707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84109"/>
              </p:ext>
            </p:extLst>
          </p:nvPr>
        </p:nvGraphicFramePr>
        <p:xfrm>
          <a:off x="673100" y="1322900"/>
          <a:ext cx="4598897" cy="1411942"/>
        </p:xfrm>
        <a:graphic>
          <a:graphicData uri="http://schemas.openxmlformats.org/drawingml/2006/table">
            <a:tbl>
              <a:tblPr firstRow="1" firstCol="1" bandRow="1">
                <a:tableStyleId>{F5A9A944-97B4-4D03-8EE5-76CD2BCEA888}</a:tableStyleId>
              </a:tblPr>
              <a:tblGrid>
                <a:gridCol w="941445">
                  <a:extLst>
                    <a:ext uri="{9D8B030D-6E8A-4147-A177-3AD203B41FA5}">
                      <a16:colId xmlns:a16="http://schemas.microsoft.com/office/drawing/2014/main" val="1627728464"/>
                    </a:ext>
                  </a:extLst>
                </a:gridCol>
                <a:gridCol w="944771">
                  <a:extLst>
                    <a:ext uri="{9D8B030D-6E8A-4147-A177-3AD203B41FA5}">
                      <a16:colId xmlns:a16="http://schemas.microsoft.com/office/drawing/2014/main" val="3939705116"/>
                    </a:ext>
                  </a:extLst>
                </a:gridCol>
                <a:gridCol w="873124">
                  <a:extLst>
                    <a:ext uri="{9D8B030D-6E8A-4147-A177-3AD203B41FA5}">
                      <a16:colId xmlns:a16="http://schemas.microsoft.com/office/drawing/2014/main" val="1763797200"/>
                    </a:ext>
                  </a:extLst>
                </a:gridCol>
                <a:gridCol w="879789">
                  <a:extLst>
                    <a:ext uri="{9D8B030D-6E8A-4147-A177-3AD203B41FA5}">
                      <a16:colId xmlns:a16="http://schemas.microsoft.com/office/drawing/2014/main" val="3444790063"/>
                    </a:ext>
                  </a:extLst>
                </a:gridCol>
                <a:gridCol w="959768">
                  <a:extLst>
                    <a:ext uri="{9D8B030D-6E8A-4147-A177-3AD203B41FA5}">
                      <a16:colId xmlns:a16="http://schemas.microsoft.com/office/drawing/2014/main" val="16391273"/>
                    </a:ext>
                  </a:extLst>
                </a:gridCol>
              </a:tblGrid>
              <a:tr h="6185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Model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TP-Precision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TP-Recall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Macro-F1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BSS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8892081"/>
                  </a:ext>
                </a:extLst>
              </a:tr>
              <a:tr h="26445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GRU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0.329</a:t>
                      </a:r>
                      <a:endParaRPr lang="en-US" sz="180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0.238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0.503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−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0.093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712257"/>
                  </a:ext>
                </a:extLst>
              </a:tr>
              <a:tr h="26445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BiGRU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0.334</a:t>
                      </a:r>
                      <a:endParaRPr lang="en-US" sz="180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0.229</a:t>
                      </a:r>
                      <a:endParaRPr lang="en-US" sz="180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0.504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−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0.085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9582927"/>
                  </a:ext>
                </a:extLst>
              </a:tr>
              <a:tr h="26445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Hybrid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0.336</a:t>
                      </a:r>
                      <a:endParaRPr lang="en-US" sz="180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0.289</a:t>
                      </a:r>
                      <a:endParaRPr lang="en-US" sz="180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0.512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−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0.137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117541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3ABA4C-A8AE-40CE-9521-EF75991C5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53714"/>
              </p:ext>
            </p:extLst>
          </p:nvPr>
        </p:nvGraphicFramePr>
        <p:xfrm>
          <a:off x="654262" y="3413554"/>
          <a:ext cx="6252884" cy="1411942"/>
        </p:xfrm>
        <a:graphic>
          <a:graphicData uri="http://schemas.openxmlformats.org/drawingml/2006/table">
            <a:tbl>
              <a:tblPr firstRow="1" firstCol="1" bandRow="1">
                <a:tableStyleId>{F5A9A944-97B4-4D03-8EE5-76CD2BCEA888}</a:tableStyleId>
              </a:tblPr>
              <a:tblGrid>
                <a:gridCol w="976625">
                  <a:extLst>
                    <a:ext uri="{9D8B030D-6E8A-4147-A177-3AD203B41FA5}">
                      <a16:colId xmlns:a16="http://schemas.microsoft.com/office/drawing/2014/main" val="683696514"/>
                    </a:ext>
                  </a:extLst>
                </a:gridCol>
                <a:gridCol w="902638">
                  <a:extLst>
                    <a:ext uri="{9D8B030D-6E8A-4147-A177-3AD203B41FA5}">
                      <a16:colId xmlns:a16="http://schemas.microsoft.com/office/drawing/2014/main" val="1635377649"/>
                    </a:ext>
                  </a:extLst>
                </a:gridCol>
                <a:gridCol w="904369">
                  <a:extLst>
                    <a:ext uri="{9D8B030D-6E8A-4147-A177-3AD203B41FA5}">
                      <a16:colId xmlns:a16="http://schemas.microsoft.com/office/drawing/2014/main" val="1808097782"/>
                    </a:ext>
                  </a:extLst>
                </a:gridCol>
                <a:gridCol w="891310">
                  <a:extLst>
                    <a:ext uri="{9D8B030D-6E8A-4147-A177-3AD203B41FA5}">
                      <a16:colId xmlns:a16="http://schemas.microsoft.com/office/drawing/2014/main" val="3424617844"/>
                    </a:ext>
                  </a:extLst>
                </a:gridCol>
                <a:gridCol w="770297">
                  <a:extLst>
                    <a:ext uri="{9D8B030D-6E8A-4147-A177-3AD203B41FA5}">
                      <a16:colId xmlns:a16="http://schemas.microsoft.com/office/drawing/2014/main" val="4073921821"/>
                    </a:ext>
                  </a:extLst>
                </a:gridCol>
                <a:gridCol w="770777">
                  <a:extLst>
                    <a:ext uri="{9D8B030D-6E8A-4147-A177-3AD203B41FA5}">
                      <a16:colId xmlns:a16="http://schemas.microsoft.com/office/drawing/2014/main" val="304169973"/>
                    </a:ext>
                  </a:extLst>
                </a:gridCol>
                <a:gridCol w="1036868">
                  <a:extLst>
                    <a:ext uri="{9D8B030D-6E8A-4147-A177-3AD203B41FA5}">
                      <a16:colId xmlns:a16="http://schemas.microsoft.com/office/drawing/2014/main" val="126601644"/>
                    </a:ext>
                  </a:extLst>
                </a:gridCol>
              </a:tblGrid>
              <a:tr h="6185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Model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Sharpe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Calmar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" sz="1200" dirty="0">
                          <a:solidFill>
                            <a:schemeClr val="lt1"/>
                          </a:solidFill>
                          <a:latin typeface="Unbounded Light"/>
                          <a:ea typeface="Unbounded Light"/>
                          <a:cs typeface="Unbounded Light"/>
                          <a:sym typeface="Unbounded Light"/>
                        </a:rPr>
                        <a:t>Total return </a:t>
                      </a: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 (%)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MDD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Win-rate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Trade</a:t>
                      </a: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Count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5722028"/>
                  </a:ext>
                </a:extLst>
              </a:tr>
              <a:tr h="26445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GRU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3.63</a:t>
                      </a:r>
                      <a:endParaRPr lang="en-US" sz="1200" b="0" i="0" u="none" strike="noStrike" cap="none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12.06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52.91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-0.115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0.408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76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3022169"/>
                  </a:ext>
                </a:extLst>
              </a:tr>
              <a:tr h="26445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BiGRU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3.26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10.95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45.68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-0.106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0.390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77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4920926"/>
                  </a:ext>
                </a:extLst>
              </a:tr>
              <a:tr h="26445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</a:rPr>
                        <a:t>Hybrid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3.31</a:t>
                      </a:r>
                      <a:endParaRPr lang="en-US" sz="1200" b="0" i="0" u="none" strike="noStrike" cap="none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15.04</a:t>
                      </a:r>
                      <a:endParaRPr lang="en-US" sz="1200" b="0" i="0" u="none" strike="noStrike" cap="none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45.66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-0.077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0.400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Unbounded Light" panose="020B0604020202020204" charset="-52"/>
                          <a:ea typeface="Aptos"/>
                          <a:cs typeface="Arial"/>
                          <a:sym typeface="Arial"/>
                        </a:rPr>
                        <a:t>75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effectLst/>
                        <a:latin typeface="Unbounded Light" panose="020B0604020202020204" charset="-52"/>
                        <a:ea typeface="Aptos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04128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90E9ED7-CBFB-47C8-BF7F-13BD50255EE8}"/>
              </a:ext>
            </a:extLst>
          </p:cNvPr>
          <p:cNvSpPr txBox="1"/>
          <p:nvPr/>
        </p:nvSpPr>
        <p:spPr>
          <a:xfrm>
            <a:off x="334496" y="947870"/>
            <a:ext cx="46224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" sz="14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Classification Results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92C205-E2CE-4085-A3D0-BB96F2365473}"/>
              </a:ext>
            </a:extLst>
          </p:cNvPr>
          <p:cNvSpPr txBox="1"/>
          <p:nvPr/>
        </p:nvSpPr>
        <p:spPr>
          <a:xfrm>
            <a:off x="334496" y="3023933"/>
            <a:ext cx="46224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" sz="14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Financial Results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g3ae8baab9d8_0_13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3ae8baab9d8_0_13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ae8baab9d8_0_13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3" y="2007"/>
            <a:ext cx="9094849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3ae8baab9d8_0_13"/>
          <p:cNvPicPr preferRelativeResize="0"/>
          <p:nvPr/>
        </p:nvPicPr>
        <p:blipFill rotWithShape="1">
          <a:blip r:embed="rId6">
            <a:alphaModFix amt="40000"/>
          </a:blip>
          <a:srcRect/>
          <a:stretch/>
        </p:blipFill>
        <p:spPr>
          <a:xfrm>
            <a:off x="6667500" y="1341013"/>
            <a:ext cx="247650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3ae8baab9d8_0_13"/>
          <p:cNvSpPr txBox="1"/>
          <p:nvPr/>
        </p:nvSpPr>
        <p:spPr>
          <a:xfrm>
            <a:off x="182600" y="189800"/>
            <a:ext cx="89613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800" dirty="0">
                <a:solidFill>
                  <a:srgbClr val="FFF2CC"/>
                </a:solidFill>
                <a:latin typeface="Unbounded"/>
                <a:sym typeface="Unbounded"/>
              </a:rPr>
              <a:t>Research Conclusions</a:t>
            </a:r>
            <a:endParaRPr sz="2800" dirty="0">
              <a:solidFill>
                <a:srgbClr val="FFF2CC"/>
              </a:solidFill>
              <a:latin typeface="Unbounded"/>
              <a:sym typeface="Unbounded"/>
            </a:endParaRPr>
          </a:p>
        </p:txBody>
      </p:sp>
      <p:sp>
        <p:nvSpPr>
          <p:cNvPr id="304" name="Google Shape;304;g3ae8baab9d8_0_13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190;g3acc20d7d3a_3_21">
            <a:extLst>
              <a:ext uri="{FF2B5EF4-FFF2-40B4-BE49-F238E27FC236}">
                <a16:creationId xmlns:a16="http://schemas.microsoft.com/office/drawing/2014/main" id="{FCB0CBD2-10EE-4BFF-9868-57414D8E5922}"/>
              </a:ext>
            </a:extLst>
          </p:cNvPr>
          <p:cNvSpPr txBox="1"/>
          <p:nvPr/>
        </p:nvSpPr>
        <p:spPr>
          <a:xfrm>
            <a:off x="416467" y="1422607"/>
            <a:ext cx="7460700" cy="329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nbounded Light"/>
              <a:buChar char="●"/>
            </a:pPr>
            <a:r>
              <a:rPr lang="ru-RU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Hybrid — best classification performance</a:t>
            </a:r>
            <a:r>
              <a:rPr lang="en-US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;</a:t>
            </a:r>
            <a:r>
              <a:rPr lang="ru-RU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</a:t>
            </a:r>
            <a:endParaRPr lang="en-US"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GRU, </a:t>
            </a:r>
            <a:r>
              <a:rPr lang="en-US" sz="1800" dirty="0" err="1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BiGRU</a:t>
            </a:r>
            <a:r>
              <a:rPr lang="en-US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– </a:t>
            </a:r>
            <a:r>
              <a:rPr lang="uk-UA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best return/risk ratio</a:t>
            </a:r>
            <a:endParaRPr lang="ru-RU"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nbounded Light"/>
              <a:buChar char="●"/>
            </a:pPr>
            <a:r>
              <a:rPr lang="ru-RU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Statistical accuracy ≠ financial result → backtesting is required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nbounded Light"/>
              <a:buChar char="●"/>
            </a:pPr>
            <a:r>
              <a:rPr lang="uk-UA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Combining features improves results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nbounded Light"/>
              <a:buChar char="●"/>
            </a:pPr>
            <a:r>
              <a:rPr lang="ru-RU" sz="1800" dirty="0">
                <a:solidFill>
                  <a:schemeClr val="l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Models trained on BTC also work on ETH</a:t>
            </a:r>
            <a:endParaRPr sz="1800" dirty="0">
              <a:solidFill>
                <a:schemeClr val="lt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g3ae8baab9d8_0_27" descr="preencoded.png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0" y="76450"/>
            <a:ext cx="9144000" cy="506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ae8baab9d8_0_27"/>
          <p:cNvPicPr preferRelativeResize="0"/>
          <p:nvPr/>
        </p:nvPicPr>
        <p:blipFill rotWithShape="1">
          <a:blip r:embed="rId4">
            <a:alphaModFix amt="40000"/>
          </a:blip>
          <a:srcRect l="43763" t="45690"/>
          <a:stretch/>
        </p:blipFill>
        <p:spPr>
          <a:xfrm rot="3">
            <a:off x="0" y="2"/>
            <a:ext cx="4267749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ae8baab9d8_0_27"/>
          <p:cNvPicPr preferRelativeResize="0"/>
          <p:nvPr/>
        </p:nvPicPr>
        <p:blipFill rotWithShape="1">
          <a:blip r:embed="rId5">
            <a:alphaModFix amt="64000"/>
          </a:blip>
          <a:srcRect l="7181" t="43722" r="15256"/>
          <a:stretch/>
        </p:blipFill>
        <p:spPr>
          <a:xfrm rot="-10799994">
            <a:off x="3" y="2007"/>
            <a:ext cx="9094849" cy="513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ae8baab9d8_0_27"/>
          <p:cNvPicPr preferRelativeResize="0"/>
          <p:nvPr/>
        </p:nvPicPr>
        <p:blipFill rotWithShape="1">
          <a:blip r:embed="rId6">
            <a:alphaModFix amt="58000"/>
          </a:blip>
          <a:srcRect/>
          <a:stretch/>
        </p:blipFill>
        <p:spPr>
          <a:xfrm>
            <a:off x="6770324" y="1170034"/>
            <a:ext cx="247650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ae8baab9d8_0_27"/>
          <p:cNvSpPr txBox="1"/>
          <p:nvPr/>
        </p:nvSpPr>
        <p:spPr>
          <a:xfrm>
            <a:off x="234112" y="277253"/>
            <a:ext cx="89613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-UA" sz="2800" dirty="0">
                <a:solidFill>
                  <a:srgbClr val="FFF2CC"/>
                </a:solidFill>
                <a:latin typeface="Unbounded"/>
                <a:sym typeface="Unbounded"/>
              </a:rPr>
              <a:t>Directions for Future Research</a:t>
            </a:r>
            <a:endParaRPr sz="2800" dirty="0">
              <a:solidFill>
                <a:srgbClr val="FFF2CC"/>
              </a:solidFill>
              <a:latin typeface="Unbounded"/>
              <a:sym typeface="Unb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14" name="Google Shape;314;g3ae8baab9d8_0_27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F6F620-5BAE-4F6D-ADE0-30099A5EA996}"/>
              </a:ext>
            </a:extLst>
          </p:cNvPr>
          <p:cNvSpPr txBox="1"/>
          <p:nvPr/>
        </p:nvSpPr>
        <p:spPr>
          <a:xfrm>
            <a:off x="321047" y="1440071"/>
            <a:ext cx="7081557" cy="2910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873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 panose="020B0604020202020204" pitchFamily="34" charset="0"/>
              <a:buChar char="•"/>
            </a:pPr>
            <a:r>
              <a:rPr lang="uk-UA" sz="1800" dirty="0">
                <a:solidFill>
                  <a:schemeClr val="lt1"/>
                </a:solidFill>
                <a:latin typeface="Unbounded Light"/>
                <a:sym typeface="Times New Roman"/>
              </a:rPr>
              <a:t>Tests on other assets / market regimes</a:t>
            </a:r>
          </a:p>
          <a:p>
            <a:pPr marL="457200" marR="0" lvl="0" indent="-3873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 panose="020B0604020202020204" pitchFamily="34" charset="0"/>
              <a:buChar char="•"/>
            </a:pPr>
            <a:endParaRPr lang="uk-UA" sz="1800" dirty="0">
              <a:solidFill>
                <a:schemeClr val="lt1"/>
              </a:solidFill>
              <a:latin typeface="Unbounded Light"/>
              <a:sym typeface="Times New Roman"/>
            </a:endParaRPr>
          </a:p>
          <a:p>
            <a:pPr marL="457200" marR="0" lvl="0" indent="-3873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 panose="020B0604020202020204" pitchFamily="34" charset="0"/>
              <a:buChar char="•"/>
            </a:pPr>
            <a:r>
              <a:rPr lang="uk-UA" sz="1800" dirty="0">
                <a:solidFill>
                  <a:schemeClr val="lt1"/>
                </a:solidFill>
                <a:latin typeface="Unbounded Light"/>
                <a:sym typeface="Times New Roman"/>
              </a:rPr>
              <a:t>Probability calibration</a:t>
            </a:r>
          </a:p>
          <a:p>
            <a:pPr marL="457200" marR="0" lvl="0" indent="-3873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 panose="020B0604020202020204" pitchFamily="34" charset="0"/>
              <a:buChar char="•"/>
            </a:pPr>
            <a:endParaRPr lang="uk-UA" sz="1800" dirty="0">
              <a:solidFill>
                <a:schemeClr val="lt1"/>
              </a:solidFill>
              <a:latin typeface="Unbounded Light"/>
              <a:sym typeface="Times New Roman"/>
            </a:endParaRPr>
          </a:p>
          <a:p>
            <a:pPr marL="457200" marR="0" lvl="0" indent="-3873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 panose="020B0604020202020204" pitchFamily="34" charset="0"/>
              <a:buChar char="•"/>
            </a:pPr>
            <a:r>
              <a:rPr lang="uk-UA" sz="1800" dirty="0">
                <a:solidFill>
                  <a:schemeClr val="lt1"/>
                </a:solidFill>
                <a:latin typeface="Unbounded Light"/>
                <a:sym typeface="Times New Roman"/>
              </a:rPr>
              <a:t>Development of deeper hybrid architectures</a:t>
            </a:r>
          </a:p>
          <a:p>
            <a:pPr marL="457200" marR="0" lvl="0" indent="-3873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 panose="020B0604020202020204" pitchFamily="34" charset="0"/>
              <a:buChar char="•"/>
            </a:pPr>
            <a:endParaRPr lang="uk-UA" sz="1800" dirty="0">
              <a:solidFill>
                <a:schemeClr val="lt1"/>
              </a:solidFill>
              <a:latin typeface="Unbounded Light"/>
              <a:sym typeface="Times New Roman"/>
            </a:endParaRPr>
          </a:p>
          <a:p>
            <a:pPr marL="457200" marR="0" lvl="0" indent="-3873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 panose="020B0604020202020204" pitchFamily="34" charset="0"/>
              <a:buChar char="•"/>
            </a:pPr>
            <a:r>
              <a:rPr lang="uk-UA" sz="1800" dirty="0">
                <a:solidFill>
                  <a:schemeClr val="lt1"/>
                </a:solidFill>
                <a:latin typeface="Unbounded Light"/>
                <a:sym typeface="Times New Roman"/>
              </a:rPr>
              <a:t>Adding </a:t>
            </a:r>
            <a:r>
              <a:rPr lang="en-US" sz="1800" dirty="0">
                <a:solidFill>
                  <a:schemeClr val="lt1"/>
                </a:solidFill>
                <a:latin typeface="Unbounded Light"/>
                <a:sym typeface="Times New Roman"/>
              </a:rPr>
              <a:t>short-</a:t>
            </a:r>
            <a:r>
              <a:rPr lang="uk-UA" sz="1800" dirty="0">
                <a:solidFill>
                  <a:schemeClr val="lt1"/>
                </a:solidFill>
                <a:latin typeface="Unbounded Light"/>
                <a:sym typeface="Times New Roman"/>
              </a:rPr>
              <a:t>strategy</a:t>
            </a:r>
          </a:p>
          <a:p>
            <a:pPr marL="457200" marR="0" lvl="0" indent="-3873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 panose="020B0604020202020204" pitchFamily="34" charset="0"/>
              <a:buChar char="•"/>
            </a:pPr>
            <a:endParaRPr lang="uk-UA" sz="1800" dirty="0">
              <a:solidFill>
                <a:schemeClr val="lt1"/>
              </a:solidFill>
              <a:latin typeface="Unbounded Light"/>
              <a:sym typeface="Times New Roman"/>
            </a:endParaRPr>
          </a:p>
          <a:p>
            <a:pPr marL="457200" marR="0" lvl="0" indent="-3873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 panose="020B0604020202020204" pitchFamily="34" charset="0"/>
              <a:buChar char="•"/>
            </a:pPr>
            <a:r>
              <a:rPr lang="uk-UA" sz="1800" dirty="0">
                <a:solidFill>
                  <a:schemeClr val="lt1"/>
                </a:solidFill>
                <a:latin typeface="Unbounded Light"/>
                <a:sym typeface="Times New Roman"/>
              </a:rPr>
              <a:t>Portfolio combination of assets and models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849135">
            <a:off x="6278574" y="401100"/>
            <a:ext cx="1658900" cy="239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348257">
            <a:off x="1828814" y="3245972"/>
            <a:ext cx="1010972" cy="145818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0"/>
          <p:cNvSpPr/>
          <p:nvPr/>
        </p:nvSpPr>
        <p:spPr>
          <a:xfrm>
            <a:off x="517025" y="1858388"/>
            <a:ext cx="7896300" cy="10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9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0"/>
              <a:buFont typeface="Unbounded"/>
              <a:buNone/>
            </a:pPr>
            <a:r>
              <a:rPr lang="uk" sz="73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QUESTIONS</a:t>
            </a:r>
            <a:endParaRPr sz="7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8623800" y="4666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/>
          <p:nvPr/>
        </p:nvSpPr>
        <p:spPr>
          <a:xfrm>
            <a:off x="950350" y="2236475"/>
            <a:ext cx="6996600" cy="10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9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0"/>
              <a:buFont typeface="Unbounded"/>
              <a:buNone/>
            </a:pPr>
            <a:r>
              <a:rPr lang="uk" sz="73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THANK YOU</a:t>
            </a:r>
            <a:endParaRPr sz="7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8623800" y="4664500"/>
            <a:ext cx="520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uk" sz="1900" b="1" i="0" u="none" strike="noStrike" cap="none">
                <a:solidFill>
                  <a:srgbClr val="FFF2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1900" b="1" i="0" u="none" strike="noStrike" cap="none">
              <a:solidFill>
                <a:srgbClr val="FFF2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772</Words>
  <Application>Microsoft Office PowerPoint</Application>
  <PresentationFormat>On-screen Show (16:9)</PresentationFormat>
  <Paragraphs>377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Times New Roman</vt:lpstr>
      <vt:lpstr>Unbounded</vt:lpstr>
      <vt:lpstr>Montserrat</vt:lpstr>
      <vt:lpstr>Unbounded Light</vt:lpstr>
      <vt:lpstr>Roboto</vt:lpstr>
      <vt:lpstr>Cambria Math</vt:lpstr>
      <vt:lpstr>Unbounded ExtraLight</vt:lpstr>
      <vt:lpstr>Calibri</vt:lpstr>
      <vt:lpstr>Simple Light</vt:lpstr>
      <vt:lpstr>Simple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Arty Rudy</dc:creator>
  <cp:lastModifiedBy>Author</cp:lastModifiedBy>
  <cp:revision>7</cp:revision>
  <dcterms:modified xsi:type="dcterms:W3CDTF">2026-03-14T03:51:08Z</dcterms:modified>
</cp:coreProperties>
</file>